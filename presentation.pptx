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2" r:id="rId3"/>
    <p:sldId id="260" r:id="rId4"/>
    <p:sldId id="261" r:id="rId5"/>
    <p:sldId id="272" r:id="rId6"/>
    <p:sldId id="263" r:id="rId7"/>
    <p:sldId id="269" r:id="rId8"/>
    <p:sldId id="273" r:id="rId9"/>
    <p:sldId id="265" r:id="rId10"/>
    <p:sldId id="264" r:id="rId11"/>
    <p:sldId id="266" r:id="rId12"/>
    <p:sldId id="267" r:id="rId13"/>
    <p:sldId id="268"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9EA1E-98C4-4A2E-AAC3-800E357DC9FE}"/>
              </a:ext>
            </a:extLst>
          </p:cNvPr>
          <p:cNvSpPr>
            <a:spLocks noGrp="1"/>
          </p:cNvSpPr>
          <p:nvPr>
            <p:ph type="ctrTitle"/>
          </p:nvPr>
        </p:nvSpPr>
        <p:spPr>
          <a:xfrm>
            <a:off x="1517904" y="1517904"/>
            <a:ext cx="9144000" cy="2798064"/>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A96B1FA-5AE6-4D57-B37B-4AA0216007F8}"/>
              </a:ext>
            </a:extLst>
          </p:cNvPr>
          <p:cNvSpPr>
            <a:spLocks noGrp="1"/>
          </p:cNvSpPr>
          <p:nvPr>
            <p:ph type="subTitle" idx="1"/>
          </p:nvPr>
        </p:nvSpPr>
        <p:spPr>
          <a:xfrm>
            <a:off x="1517904" y="4572000"/>
            <a:ext cx="9144000" cy="1527048"/>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a:extLst>
              <a:ext uri="{FF2B5EF4-FFF2-40B4-BE49-F238E27FC236}">
                <a16:creationId xmlns:a16="http://schemas.microsoft.com/office/drawing/2014/main" id="{01F49B66-DBC3-45EE-A6E1-DE10A6C186C8}"/>
              </a:ext>
            </a:extLst>
          </p:cNvPr>
          <p:cNvSpPr>
            <a:spLocks noGrp="1"/>
          </p:cNvSpPr>
          <p:nvPr>
            <p:ph type="dt" sz="half" idx="10"/>
          </p:nvPr>
        </p:nvSpPr>
        <p:spPr/>
        <p:txBody>
          <a:bodyPr/>
          <a:lstStyle/>
          <a:p>
            <a:pPr algn="r"/>
            <a:fld id="{3F9AFA87-1417-4992-ABD9-27C3BC8CC883}" type="datetimeFigureOut">
              <a:rPr lang="en-US" smtClean="0"/>
              <a:pPr algn="r"/>
              <a:t>12/4/2023</a:t>
            </a:fld>
            <a:endParaRPr lang="en-US" dirty="0"/>
          </a:p>
        </p:txBody>
      </p:sp>
      <p:sp>
        <p:nvSpPr>
          <p:cNvPr id="8" name="Footer Placeholder 7">
            <a:extLst>
              <a:ext uri="{FF2B5EF4-FFF2-40B4-BE49-F238E27FC236}">
                <a16:creationId xmlns:a16="http://schemas.microsoft.com/office/drawing/2014/main" id="{241085F0-1967-4B4F-9824-58E9F2E05125}"/>
              </a:ext>
            </a:extLst>
          </p:cNvPr>
          <p:cNvSpPr>
            <a:spLocks noGrp="1"/>
          </p:cNvSpPr>
          <p:nvPr>
            <p:ph type="ftr" sz="quarter" idx="11"/>
          </p:nvPr>
        </p:nvSpPr>
        <p:spPr/>
        <p:txBody>
          <a:bodyPr/>
          <a:lstStyle/>
          <a:p>
            <a:endParaRPr lang="en-US" sz="1000" dirty="0"/>
          </a:p>
        </p:txBody>
      </p:sp>
      <p:sp>
        <p:nvSpPr>
          <p:cNvPr id="9" name="Slide Number Placeholder 8">
            <a:extLst>
              <a:ext uri="{FF2B5EF4-FFF2-40B4-BE49-F238E27FC236}">
                <a16:creationId xmlns:a16="http://schemas.microsoft.com/office/drawing/2014/main" id="{40AEDEE5-31B5-4868-8C16-47FF43E276A4}"/>
              </a:ext>
            </a:extLst>
          </p:cNvPr>
          <p:cNvSpPr>
            <a:spLocks noGrp="1"/>
          </p:cNvSpPr>
          <p:nvPr>
            <p:ph type="sldNum" sz="quarter" idx="12"/>
          </p:nvPr>
        </p:nvSpPr>
        <p:spPr/>
        <p:txBody>
          <a:bodyPr/>
          <a:lstStyle/>
          <a:p>
            <a:fld id="{CB1E4CB7-CB13-4810-BF18-BE31AFC64F93}" type="slidenum">
              <a:rPr lang="en-US" smtClean="0"/>
              <a:pPr/>
              <a:t>‹#›</a:t>
            </a:fld>
            <a:endParaRPr lang="en-US" sz="1000" dirty="0"/>
          </a:p>
        </p:txBody>
      </p:sp>
    </p:spTree>
    <p:extLst>
      <p:ext uri="{BB962C8B-B14F-4D97-AF65-F5344CB8AC3E}">
        <p14:creationId xmlns:p14="http://schemas.microsoft.com/office/powerpoint/2010/main" val="11073414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5BB2-C09C-49B0-BAFA-DE1801CD3E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A47C21-944D-47FE-9519-A255188371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7CE36D-6B7B-4D5E-831E-34A4286D6E6A}"/>
              </a:ext>
            </a:extLst>
          </p:cNvPr>
          <p:cNvSpPr>
            <a:spLocks noGrp="1"/>
          </p:cNvSpPr>
          <p:nvPr>
            <p:ph type="dt" sz="half" idx="10"/>
          </p:nvPr>
        </p:nvSpPr>
        <p:spPr/>
        <p:txBody>
          <a:bodyPr/>
          <a:lstStyle/>
          <a:p>
            <a:fld id="{3F9AFA87-1417-4992-ABD9-27C3BC8CC883}" type="datetimeFigureOut">
              <a:rPr lang="en-US" smtClean="0"/>
              <a:t>12/4/2023</a:t>
            </a:fld>
            <a:endParaRPr lang="en-US"/>
          </a:p>
        </p:txBody>
      </p:sp>
      <p:sp>
        <p:nvSpPr>
          <p:cNvPr id="5" name="Footer Placeholder 4">
            <a:extLst>
              <a:ext uri="{FF2B5EF4-FFF2-40B4-BE49-F238E27FC236}">
                <a16:creationId xmlns:a16="http://schemas.microsoft.com/office/drawing/2014/main" id="{BA2AD668-6E19-425C-88F7-AF4220662C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905C53-CF7C-4936-9E35-1BEBD683626E}"/>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4195506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46C78-A717-4E1F-A742-FD5AECA03B4B}"/>
              </a:ext>
            </a:extLst>
          </p:cNvPr>
          <p:cNvSpPr>
            <a:spLocks noGrp="1"/>
          </p:cNvSpPr>
          <p:nvPr>
            <p:ph type="title"/>
          </p:nvPr>
        </p:nvSpPr>
        <p:spPr>
          <a:xfrm>
            <a:off x="1517904" y="1517904"/>
            <a:ext cx="9144000"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DA1270D-CCAE-4437-A0C0-052D111DFC80}"/>
              </a:ext>
            </a:extLst>
          </p:cNvPr>
          <p:cNvSpPr>
            <a:spLocks noGrp="1"/>
          </p:cNvSpPr>
          <p:nvPr>
            <p:ph type="body" idx="1"/>
          </p:nvPr>
        </p:nvSpPr>
        <p:spPr>
          <a:xfrm>
            <a:off x="1517904" y="4572000"/>
            <a:ext cx="91440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9F006A-7EEE-4DB0-8F92-D34C0D46C38E}"/>
              </a:ext>
            </a:extLst>
          </p:cNvPr>
          <p:cNvSpPr>
            <a:spLocks noGrp="1"/>
          </p:cNvSpPr>
          <p:nvPr>
            <p:ph type="dt" sz="half" idx="10"/>
          </p:nvPr>
        </p:nvSpPr>
        <p:spPr/>
        <p:txBody>
          <a:bodyPr/>
          <a:lstStyle/>
          <a:p>
            <a:fld id="{3F9AFA87-1417-4992-ABD9-27C3BC8CC883}" type="datetimeFigureOut">
              <a:rPr lang="en-US" smtClean="0"/>
              <a:t>12/4/2023</a:t>
            </a:fld>
            <a:endParaRPr lang="en-US"/>
          </a:p>
        </p:txBody>
      </p:sp>
      <p:sp>
        <p:nvSpPr>
          <p:cNvPr id="5" name="Footer Placeholder 4">
            <a:extLst>
              <a:ext uri="{FF2B5EF4-FFF2-40B4-BE49-F238E27FC236}">
                <a16:creationId xmlns:a16="http://schemas.microsoft.com/office/drawing/2014/main" id="{FDA3F2ED-2B0E-44A9-8603-286CA06345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4D801C-6B4E-40B6-9D6E-558192264D2E}"/>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15047737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446AA-9418-4C3E-901B-8E2806122E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997482-2CA6-4707-976E-6FD4B57BFE66}"/>
              </a:ext>
            </a:extLst>
          </p:cNvPr>
          <p:cNvSpPr>
            <a:spLocks noGrp="1"/>
          </p:cNvSpPr>
          <p:nvPr>
            <p:ph sz="half" idx="1"/>
          </p:nvPr>
        </p:nvSpPr>
        <p:spPr>
          <a:xfrm>
            <a:off x="1517904" y="2980944"/>
            <a:ext cx="4334256"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909652-DD12-479C-B639-9452CBA8C019}"/>
              </a:ext>
            </a:extLst>
          </p:cNvPr>
          <p:cNvSpPr>
            <a:spLocks noGrp="1"/>
          </p:cNvSpPr>
          <p:nvPr>
            <p:ph sz="half" idx="2"/>
          </p:nvPr>
        </p:nvSpPr>
        <p:spPr>
          <a:xfrm>
            <a:off x="6336792" y="2980944"/>
            <a:ext cx="4334256"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0EC7A6-AFB1-4989-A0B4-B422D5B2C69C}"/>
              </a:ext>
            </a:extLst>
          </p:cNvPr>
          <p:cNvSpPr>
            <a:spLocks noGrp="1"/>
          </p:cNvSpPr>
          <p:nvPr>
            <p:ph type="dt" sz="half" idx="10"/>
          </p:nvPr>
        </p:nvSpPr>
        <p:spPr/>
        <p:txBody>
          <a:bodyPr/>
          <a:lstStyle/>
          <a:p>
            <a:fld id="{3F9AFA87-1417-4992-ABD9-27C3BC8CC883}" type="datetimeFigureOut">
              <a:rPr lang="en-US" smtClean="0"/>
              <a:t>12/4/2023</a:t>
            </a:fld>
            <a:endParaRPr lang="en-US" dirty="0"/>
          </a:p>
        </p:txBody>
      </p:sp>
      <p:sp>
        <p:nvSpPr>
          <p:cNvPr id="6" name="Footer Placeholder 5">
            <a:extLst>
              <a:ext uri="{FF2B5EF4-FFF2-40B4-BE49-F238E27FC236}">
                <a16:creationId xmlns:a16="http://schemas.microsoft.com/office/drawing/2014/main" id="{F8D2117C-B497-4647-A66B-1887750FB53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9E8C7AF-5092-416B-B61C-F41D3C573E0C}"/>
              </a:ext>
            </a:extLst>
          </p:cNvPr>
          <p:cNvSpPr>
            <a:spLocks noGrp="1"/>
          </p:cNvSpPr>
          <p:nvPr>
            <p:ph type="sldNum" sz="quarter" idx="12"/>
          </p:nvPr>
        </p:nvSpPr>
        <p:spPr/>
        <p:txBody>
          <a:bodyPr/>
          <a:lstStyle/>
          <a:p>
            <a:fld id="{CB1E4CB7-CB13-4810-BF18-BE31AFC64F93}" type="slidenum">
              <a:rPr lang="en-US" smtClean="0"/>
              <a:t>‹#›</a:t>
            </a:fld>
            <a:endParaRPr lang="en-US" dirty="0"/>
          </a:p>
        </p:txBody>
      </p:sp>
    </p:spTree>
    <p:extLst>
      <p:ext uri="{BB962C8B-B14F-4D97-AF65-F5344CB8AC3E}">
        <p14:creationId xmlns:p14="http://schemas.microsoft.com/office/powerpoint/2010/main" val="39829633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90CDE0-3FEB-42A0-8BCC-7DADE7D4A621}"/>
              </a:ext>
            </a:extLst>
          </p:cNvPr>
          <p:cNvSpPr>
            <a:spLocks noGrp="1"/>
          </p:cNvSpPr>
          <p:nvPr>
            <p:ph type="body" idx="1"/>
          </p:nvPr>
        </p:nvSpPr>
        <p:spPr>
          <a:xfrm>
            <a:off x="1517905" y="294436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778B8B-E9A3-44BE-85A6-3E316659A9B4}"/>
              </a:ext>
            </a:extLst>
          </p:cNvPr>
          <p:cNvSpPr>
            <a:spLocks noGrp="1"/>
          </p:cNvSpPr>
          <p:nvPr>
            <p:ph sz="half" idx="2"/>
          </p:nvPr>
        </p:nvSpPr>
        <p:spPr>
          <a:xfrm>
            <a:off x="1517904" y="3644987"/>
            <a:ext cx="4334256" cy="2449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0BF1BCA-A435-4779-A6FE-15207141F519}"/>
              </a:ext>
            </a:extLst>
          </p:cNvPr>
          <p:cNvSpPr>
            <a:spLocks noGrp="1"/>
          </p:cNvSpPr>
          <p:nvPr>
            <p:ph type="body" sz="quarter" idx="3"/>
          </p:nvPr>
        </p:nvSpPr>
        <p:spPr>
          <a:xfrm>
            <a:off x="6336792" y="294436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9B1923-9749-49E3-88FA-75C326E6719A}"/>
              </a:ext>
            </a:extLst>
          </p:cNvPr>
          <p:cNvSpPr>
            <a:spLocks noGrp="1"/>
          </p:cNvSpPr>
          <p:nvPr>
            <p:ph sz="quarter" idx="4"/>
          </p:nvPr>
        </p:nvSpPr>
        <p:spPr>
          <a:xfrm>
            <a:off x="6336792" y="3644987"/>
            <a:ext cx="4334256" cy="2449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F3A70F0-5AFA-4C5A-812B-220C6A38DB6B}"/>
              </a:ext>
            </a:extLst>
          </p:cNvPr>
          <p:cNvSpPr>
            <a:spLocks noGrp="1"/>
          </p:cNvSpPr>
          <p:nvPr>
            <p:ph type="dt" sz="half" idx="10"/>
          </p:nvPr>
        </p:nvSpPr>
        <p:spPr/>
        <p:txBody>
          <a:bodyPr/>
          <a:lstStyle/>
          <a:p>
            <a:fld id="{3F9AFA87-1417-4992-ABD9-27C3BC8CC883}" type="datetimeFigureOut">
              <a:rPr lang="en-US" smtClean="0"/>
              <a:t>12/4/2023</a:t>
            </a:fld>
            <a:endParaRPr lang="en-US"/>
          </a:p>
        </p:txBody>
      </p:sp>
      <p:sp>
        <p:nvSpPr>
          <p:cNvPr id="8" name="Footer Placeholder 7">
            <a:extLst>
              <a:ext uri="{FF2B5EF4-FFF2-40B4-BE49-F238E27FC236}">
                <a16:creationId xmlns:a16="http://schemas.microsoft.com/office/drawing/2014/main" id="{576AF721-83FE-4B57-B910-C395D23FDE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6A5893-52F1-44A1-AE8E-CF094DB41CFA}"/>
              </a:ext>
            </a:extLst>
          </p:cNvPr>
          <p:cNvSpPr>
            <a:spLocks noGrp="1"/>
          </p:cNvSpPr>
          <p:nvPr>
            <p:ph type="sldNum" sz="quarter" idx="12"/>
          </p:nvPr>
        </p:nvSpPr>
        <p:spPr/>
        <p:txBody>
          <a:bodyPr/>
          <a:lstStyle/>
          <a:p>
            <a:fld id="{CB1E4CB7-CB13-4810-BF18-BE31AFC64F93}" type="slidenum">
              <a:rPr lang="en-US" smtClean="0"/>
              <a:t>‹#›</a:t>
            </a:fld>
            <a:endParaRPr lang="en-US"/>
          </a:p>
        </p:txBody>
      </p:sp>
      <p:sp>
        <p:nvSpPr>
          <p:cNvPr id="10" name="Title 9">
            <a:extLst>
              <a:ext uri="{FF2B5EF4-FFF2-40B4-BE49-F238E27FC236}">
                <a16:creationId xmlns:a16="http://schemas.microsoft.com/office/drawing/2014/main" id="{D9D22302-83E3-4E22-93DF-1E5D463B64C3}"/>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2517539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85A6-A4E6-4160-BE43-8146A989464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A24A80-0792-4B3B-BB5A-8B2BD91095A7}"/>
              </a:ext>
            </a:extLst>
          </p:cNvPr>
          <p:cNvSpPr>
            <a:spLocks noGrp="1"/>
          </p:cNvSpPr>
          <p:nvPr>
            <p:ph type="dt" sz="half" idx="10"/>
          </p:nvPr>
        </p:nvSpPr>
        <p:spPr/>
        <p:txBody>
          <a:bodyPr/>
          <a:lstStyle/>
          <a:p>
            <a:fld id="{3F9AFA87-1417-4992-ABD9-27C3BC8CC883}" type="datetimeFigureOut">
              <a:rPr lang="en-US" smtClean="0"/>
              <a:t>12/4/2023</a:t>
            </a:fld>
            <a:endParaRPr lang="en-US"/>
          </a:p>
        </p:txBody>
      </p:sp>
      <p:sp>
        <p:nvSpPr>
          <p:cNvPr id="4" name="Footer Placeholder 3">
            <a:extLst>
              <a:ext uri="{FF2B5EF4-FFF2-40B4-BE49-F238E27FC236}">
                <a16:creationId xmlns:a16="http://schemas.microsoft.com/office/drawing/2014/main" id="{4526116E-7A6D-485F-9FA2-25F94D4F40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09ADCC-C5F2-4D90-B153-93DF55858291}"/>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16659190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862271-51F6-4122-9709-D279042F8846}"/>
              </a:ext>
            </a:extLst>
          </p:cNvPr>
          <p:cNvSpPr>
            <a:spLocks noGrp="1"/>
          </p:cNvSpPr>
          <p:nvPr>
            <p:ph type="dt" sz="half" idx="10"/>
          </p:nvPr>
        </p:nvSpPr>
        <p:spPr/>
        <p:txBody>
          <a:bodyPr/>
          <a:lstStyle/>
          <a:p>
            <a:fld id="{3F9AFA87-1417-4992-ABD9-27C3BC8CC883}" type="datetimeFigureOut">
              <a:rPr lang="en-US" smtClean="0"/>
              <a:t>12/4/2023</a:t>
            </a:fld>
            <a:endParaRPr lang="en-US"/>
          </a:p>
        </p:txBody>
      </p:sp>
      <p:sp>
        <p:nvSpPr>
          <p:cNvPr id="3" name="Footer Placeholder 2">
            <a:extLst>
              <a:ext uri="{FF2B5EF4-FFF2-40B4-BE49-F238E27FC236}">
                <a16:creationId xmlns:a16="http://schemas.microsoft.com/office/drawing/2014/main" id="{452CFE08-03FE-487B-8963-9FAD3049CF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935A50-18AE-4CB1-BB10-1CBDD8A7C2C4}"/>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38179707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1F683-796D-458C-9B32-A385D604DBFC}"/>
              </a:ext>
            </a:extLst>
          </p:cNvPr>
          <p:cNvSpPr>
            <a:spLocks noGrp="1"/>
          </p:cNvSpPr>
          <p:nvPr>
            <p:ph type="title"/>
          </p:nvPr>
        </p:nvSpPr>
        <p:spPr>
          <a:xfrm>
            <a:off x="1517904" y="1517904"/>
            <a:ext cx="3145536" cy="1792224"/>
          </a:xfrm>
        </p:spPr>
        <p:txBody>
          <a:bodyPr anchor="b">
            <a:normAutofit/>
          </a:bodyPr>
          <a:lstStyle>
            <a:lvl1pPr>
              <a:lnSpc>
                <a:spcPct val="100000"/>
              </a:lnSpc>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FB1F0BD-641B-4148-BCB3-2704218C80B8}"/>
              </a:ext>
            </a:extLst>
          </p:cNvPr>
          <p:cNvSpPr>
            <a:spLocks noGrp="1"/>
          </p:cNvSpPr>
          <p:nvPr>
            <p:ph idx="1"/>
          </p:nvPr>
        </p:nvSpPr>
        <p:spPr>
          <a:xfrm>
            <a:off x="5330952" y="1517904"/>
            <a:ext cx="5330952" cy="45811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B28C843-B846-4456-9720-71B7D4FF4062}"/>
              </a:ext>
            </a:extLst>
          </p:cNvPr>
          <p:cNvSpPr>
            <a:spLocks noGrp="1"/>
          </p:cNvSpPr>
          <p:nvPr>
            <p:ph type="body" sz="half" idx="2"/>
          </p:nvPr>
        </p:nvSpPr>
        <p:spPr>
          <a:xfrm>
            <a:off x="1517904" y="3483864"/>
            <a:ext cx="3145536" cy="2615184"/>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3A3A03-31BD-4E7E-879A-A1C71849703C}"/>
              </a:ext>
            </a:extLst>
          </p:cNvPr>
          <p:cNvSpPr>
            <a:spLocks noGrp="1"/>
          </p:cNvSpPr>
          <p:nvPr>
            <p:ph type="dt" sz="half" idx="10"/>
          </p:nvPr>
        </p:nvSpPr>
        <p:spPr/>
        <p:txBody>
          <a:bodyPr/>
          <a:lstStyle/>
          <a:p>
            <a:fld id="{3F9AFA87-1417-4992-ABD9-27C3BC8CC883}" type="datetimeFigureOut">
              <a:rPr lang="en-US" smtClean="0"/>
              <a:t>12/4/2023</a:t>
            </a:fld>
            <a:endParaRPr lang="en-US"/>
          </a:p>
        </p:txBody>
      </p:sp>
      <p:sp>
        <p:nvSpPr>
          <p:cNvPr id="6" name="Footer Placeholder 5">
            <a:extLst>
              <a:ext uri="{FF2B5EF4-FFF2-40B4-BE49-F238E27FC236}">
                <a16:creationId xmlns:a16="http://schemas.microsoft.com/office/drawing/2014/main" id="{4EA39078-7D38-4851-A363-B6BC179A50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1FF25E-A25D-47AA-94EB-580A74F01F1F}"/>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38145946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E83B4-9B31-4F73-9767-163636522F3A}"/>
              </a:ext>
            </a:extLst>
          </p:cNvPr>
          <p:cNvSpPr>
            <a:spLocks noGrp="1"/>
          </p:cNvSpPr>
          <p:nvPr>
            <p:ph type="title"/>
          </p:nvPr>
        </p:nvSpPr>
        <p:spPr>
          <a:xfrm>
            <a:off x="1517904" y="1517904"/>
            <a:ext cx="3145536" cy="1792224"/>
          </a:xfrm>
        </p:spPr>
        <p:txBody>
          <a:bodyPr anchor="b">
            <a:normAutofit/>
          </a:bodyPr>
          <a:lstStyle>
            <a:lvl1pPr>
              <a:lnSpc>
                <a:spcPct val="100000"/>
              </a:lnSpc>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BC7CFC30-8163-47A0-A97F-3F2C3A3BE73A}"/>
              </a:ext>
            </a:extLst>
          </p:cNvPr>
          <p:cNvSpPr>
            <a:spLocks noGrp="1"/>
          </p:cNvSpPr>
          <p:nvPr>
            <p:ph type="pic" idx="1"/>
          </p:nvPr>
        </p:nvSpPr>
        <p:spPr>
          <a:xfrm>
            <a:off x="5349240" y="764032"/>
            <a:ext cx="6089904" cy="5330952"/>
          </a:xfrm>
          <a:solidFill>
            <a:schemeClr val="bg1">
              <a:lumMod val="9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AF1B390-0C23-466E-987C-26420A5F098D}"/>
              </a:ext>
            </a:extLst>
          </p:cNvPr>
          <p:cNvSpPr>
            <a:spLocks noGrp="1"/>
          </p:cNvSpPr>
          <p:nvPr>
            <p:ph type="body" sz="half" idx="2"/>
          </p:nvPr>
        </p:nvSpPr>
        <p:spPr>
          <a:xfrm>
            <a:off x="1517904" y="3483864"/>
            <a:ext cx="3145536" cy="2615184"/>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C9CA7C-B9D0-4A72-8061-1E02AA15FE86}"/>
              </a:ext>
            </a:extLst>
          </p:cNvPr>
          <p:cNvSpPr>
            <a:spLocks noGrp="1"/>
          </p:cNvSpPr>
          <p:nvPr>
            <p:ph type="dt" sz="half" idx="10"/>
          </p:nvPr>
        </p:nvSpPr>
        <p:spPr/>
        <p:txBody>
          <a:bodyPr/>
          <a:lstStyle/>
          <a:p>
            <a:fld id="{3F9AFA87-1417-4992-ABD9-27C3BC8CC883}" type="datetimeFigureOut">
              <a:rPr lang="en-US" smtClean="0"/>
              <a:t>12/4/2023</a:t>
            </a:fld>
            <a:endParaRPr lang="en-US"/>
          </a:p>
        </p:txBody>
      </p:sp>
      <p:sp>
        <p:nvSpPr>
          <p:cNvPr id="6" name="Footer Placeholder 5">
            <a:extLst>
              <a:ext uri="{FF2B5EF4-FFF2-40B4-BE49-F238E27FC236}">
                <a16:creationId xmlns:a16="http://schemas.microsoft.com/office/drawing/2014/main" id="{C53EFC84-C9FE-4BFA-9B4E-4516A13625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01A469-3EFC-4F94-8482-378582E1C14F}"/>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32524626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F9454-6F74-46A8-B299-4AF451BFB928}"/>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6F55CA9-A0BD-4609-9307-BAF987B262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25E4293-851E-4FA2-BFF2-B646A42369DE}"/>
              </a:ext>
            </a:extLst>
          </p:cNvPr>
          <p:cNvSpPr>
            <a:spLocks noGrp="1"/>
          </p:cNvSpPr>
          <p:nvPr>
            <p:ph type="dt" sz="half" idx="10"/>
          </p:nvPr>
        </p:nvSpPr>
        <p:spPr/>
        <p:txBody>
          <a:bodyPr/>
          <a:lstStyle/>
          <a:p>
            <a:fld id="{3F9AFA87-1417-4992-ABD9-27C3BC8CC883}" type="datetimeFigureOut">
              <a:rPr lang="en-US" smtClean="0"/>
              <a:t>12/4/2023</a:t>
            </a:fld>
            <a:endParaRPr lang="en-US"/>
          </a:p>
        </p:txBody>
      </p:sp>
      <p:sp>
        <p:nvSpPr>
          <p:cNvPr id="5" name="Footer Placeholder 4">
            <a:extLst>
              <a:ext uri="{FF2B5EF4-FFF2-40B4-BE49-F238E27FC236}">
                <a16:creationId xmlns:a16="http://schemas.microsoft.com/office/drawing/2014/main" id="{59A907F5-F26D-4A91-8D70-AB54F8B43D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8ACBD8-D942-449E-A2B8-358CD1365C0A}"/>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5305943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A50897-0C2E-420B-9A38-A8D5C1D72786}"/>
              </a:ext>
            </a:extLst>
          </p:cNvPr>
          <p:cNvSpPr>
            <a:spLocks noGrp="1"/>
          </p:cNvSpPr>
          <p:nvPr>
            <p:ph type="title" orient="vert"/>
          </p:nvPr>
        </p:nvSpPr>
        <p:spPr>
          <a:xfrm>
            <a:off x="8450317" y="1517904"/>
            <a:ext cx="2220731" cy="454678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EDB2173-32A5-4677-A08F-DAB8FD430D1A}"/>
              </a:ext>
            </a:extLst>
          </p:cNvPr>
          <p:cNvSpPr>
            <a:spLocks noGrp="1"/>
          </p:cNvSpPr>
          <p:nvPr>
            <p:ph type="body" orient="vert" idx="1"/>
          </p:nvPr>
        </p:nvSpPr>
        <p:spPr>
          <a:xfrm>
            <a:off x="1517904" y="1517904"/>
            <a:ext cx="6562553" cy="454678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3DB124D-B801-4A6A-9DAF-EBC1B98FE4F7}"/>
              </a:ext>
            </a:extLst>
          </p:cNvPr>
          <p:cNvSpPr>
            <a:spLocks noGrp="1"/>
          </p:cNvSpPr>
          <p:nvPr>
            <p:ph type="dt" sz="half" idx="10"/>
          </p:nvPr>
        </p:nvSpPr>
        <p:spPr/>
        <p:txBody>
          <a:bodyPr/>
          <a:lstStyle/>
          <a:p>
            <a:fld id="{3F9AFA87-1417-4992-ABD9-27C3BC8CC883}" type="datetimeFigureOut">
              <a:rPr lang="en-US" smtClean="0"/>
              <a:t>12/4/2023</a:t>
            </a:fld>
            <a:endParaRPr lang="en-US"/>
          </a:p>
        </p:txBody>
      </p:sp>
      <p:sp>
        <p:nvSpPr>
          <p:cNvPr id="5" name="Footer Placeholder 4">
            <a:extLst>
              <a:ext uri="{FF2B5EF4-FFF2-40B4-BE49-F238E27FC236}">
                <a16:creationId xmlns:a16="http://schemas.microsoft.com/office/drawing/2014/main" id="{A8DAF8DF-2544-45A5-B62B-BB7948FCCA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AC232D-131E-4BE6-8E2E-BAF5A30846D6}"/>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9648215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B1D84C-7934-4E5B-B6E4-A1D6EC299551}"/>
              </a:ext>
            </a:extLst>
          </p:cNvPr>
          <p:cNvSpPr>
            <a:spLocks noGrp="1"/>
          </p:cNvSpPr>
          <p:nvPr>
            <p:ph type="title"/>
          </p:nvPr>
        </p:nvSpPr>
        <p:spPr>
          <a:xfrm>
            <a:off x="1517904" y="1517904"/>
            <a:ext cx="9144000" cy="134416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F6A990F-40AC-447A-964A-840C94A6471A}"/>
              </a:ext>
            </a:extLst>
          </p:cNvPr>
          <p:cNvSpPr>
            <a:spLocks noGrp="1"/>
          </p:cNvSpPr>
          <p:nvPr>
            <p:ph type="body" idx="1"/>
          </p:nvPr>
        </p:nvSpPr>
        <p:spPr>
          <a:xfrm>
            <a:off x="1517904" y="2971800"/>
            <a:ext cx="9144000" cy="31272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7D832A1-FFBA-48B6-B2D0-E5414F12838B}"/>
              </a:ext>
            </a:extLst>
          </p:cNvPr>
          <p:cNvSpPr>
            <a:spLocks noGrp="1"/>
          </p:cNvSpPr>
          <p:nvPr>
            <p:ph type="dt" sz="half" idx="2"/>
          </p:nvPr>
        </p:nvSpPr>
        <p:spPr>
          <a:xfrm>
            <a:off x="8805672" y="6400800"/>
            <a:ext cx="1865376" cy="365125"/>
          </a:xfrm>
          <a:prstGeom prst="rect">
            <a:avLst/>
          </a:prstGeom>
        </p:spPr>
        <p:txBody>
          <a:bodyPr vert="horz" lIns="91440" tIns="45720" rIns="91440" bIns="45720" rtlCol="0" anchor="ctr"/>
          <a:lstStyle>
            <a:lvl1pPr algn="r">
              <a:defRPr sz="1000">
                <a:solidFill>
                  <a:schemeClr val="tx1"/>
                </a:solidFill>
              </a:defRPr>
            </a:lvl1pPr>
          </a:lstStyle>
          <a:p>
            <a:pPr algn="r"/>
            <a:fld id="{3F9AFA87-1417-4992-ABD9-27C3BC8CC883}" type="datetimeFigureOut">
              <a:rPr lang="en-US" smtClean="0"/>
              <a:pPr algn="r"/>
              <a:t>12/4/2023</a:t>
            </a:fld>
            <a:endParaRPr lang="en-US" dirty="0"/>
          </a:p>
        </p:txBody>
      </p:sp>
      <p:sp>
        <p:nvSpPr>
          <p:cNvPr id="5" name="Footer Placeholder 4">
            <a:extLst>
              <a:ext uri="{FF2B5EF4-FFF2-40B4-BE49-F238E27FC236}">
                <a16:creationId xmlns:a16="http://schemas.microsoft.com/office/drawing/2014/main" id="{0F933EC1-4EE2-4453-841C-CFDFE708948E}"/>
              </a:ext>
            </a:extLst>
          </p:cNvPr>
          <p:cNvSpPr>
            <a:spLocks noGrp="1"/>
          </p:cNvSpPr>
          <p:nvPr>
            <p:ph type="ftr" sz="quarter" idx="3"/>
          </p:nvPr>
        </p:nvSpPr>
        <p:spPr>
          <a:xfrm>
            <a:off x="758952" y="6400800"/>
            <a:ext cx="6099048" cy="365125"/>
          </a:xfrm>
          <a:prstGeom prst="rect">
            <a:avLst/>
          </a:prstGeom>
        </p:spPr>
        <p:txBody>
          <a:bodyPr vert="horz" lIns="91440" tIns="45720" rIns="91440" bIns="45720" rtlCol="0" anchor="ctr"/>
          <a:lstStyle>
            <a:lvl1pPr algn="l">
              <a:defRPr sz="1000">
                <a:solidFill>
                  <a:schemeClr val="tx1"/>
                </a:solidFill>
              </a:defRPr>
            </a:lvl1pPr>
          </a:lstStyle>
          <a:p>
            <a:endParaRPr lang="en-US" sz="1000" dirty="0"/>
          </a:p>
        </p:txBody>
      </p:sp>
      <p:sp>
        <p:nvSpPr>
          <p:cNvPr id="6" name="Slide Number Placeholder 5">
            <a:extLst>
              <a:ext uri="{FF2B5EF4-FFF2-40B4-BE49-F238E27FC236}">
                <a16:creationId xmlns:a16="http://schemas.microsoft.com/office/drawing/2014/main" id="{C3CEBA78-E732-44EF-BA0B-FC42F7931311}"/>
              </a:ext>
            </a:extLst>
          </p:cNvPr>
          <p:cNvSpPr>
            <a:spLocks noGrp="1"/>
          </p:cNvSpPr>
          <p:nvPr>
            <p:ph type="sldNum" sz="quarter" idx="4"/>
          </p:nvPr>
        </p:nvSpPr>
        <p:spPr>
          <a:xfrm>
            <a:off x="10899648" y="6400800"/>
            <a:ext cx="530352" cy="365125"/>
          </a:xfrm>
          <a:prstGeom prst="rect">
            <a:avLst/>
          </a:prstGeom>
        </p:spPr>
        <p:txBody>
          <a:bodyPr vert="horz" lIns="91440" tIns="45720" rIns="91440" bIns="45720" rtlCol="0" anchor="ctr"/>
          <a:lstStyle>
            <a:lvl1pPr algn="r">
              <a:defRPr sz="1000" b="1">
                <a:solidFill>
                  <a:schemeClr val="tx1"/>
                </a:solidFill>
              </a:defRPr>
            </a:lvl1pPr>
          </a:lstStyle>
          <a:p>
            <a:fld id="{CB1E4CB7-CB13-4810-BF18-BE31AFC64F93}" type="slidenum">
              <a:rPr lang="en-US" smtClean="0"/>
              <a:pPr/>
              <a:t>‹#›</a:t>
            </a:fld>
            <a:endParaRPr lang="en-US" sz="1000" dirty="0"/>
          </a:p>
        </p:txBody>
      </p:sp>
      <p:sp>
        <p:nvSpPr>
          <p:cNvPr id="8" name="Freeform: Shape 7">
            <a:extLst>
              <a:ext uri="{FF2B5EF4-FFF2-40B4-BE49-F238E27FC236}">
                <a16:creationId xmlns:a16="http://schemas.microsoft.com/office/drawing/2014/main" id="{49306479-8C4D-4E4A-A330-DFC80A8A01BE}"/>
              </a:ext>
            </a:extLst>
          </p:cNvPr>
          <p:cNvSpPr/>
          <p:nvPr/>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217661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xStyles>
    <p:title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p:titleStyle>
    <p:body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cNvSpPr>
            <a:spLocks noGrp="1"/>
          </p:cNvSpPr>
          <p:nvPr>
            <p:ph type="ctrTitle"/>
          </p:nvPr>
        </p:nvSpPr>
        <p:spPr/>
        <p:txBody>
          <a:bodyPr>
            <a:normAutofit/>
          </a:bodyPr>
          <a:lstStyle/>
          <a:p>
            <a:pPr algn="l"/>
            <a:br>
              <a:rPr lang="en-US" sz="1600" dirty="0"/>
            </a:br>
            <a:br>
              <a:rPr lang="en-US" sz="1600" dirty="0"/>
            </a:br>
            <a:endParaRPr sz="1600" dirty="0"/>
          </a:p>
        </p:txBody>
      </p:sp>
      <p:sp>
        <p:nvSpPr>
          <p:cNvPr id="4" name="Subtitle 3">
            <a:extLst>
              <a:ext uri="{FF2B5EF4-FFF2-40B4-BE49-F238E27FC236}">
                <a16:creationId xmlns:a16="http://schemas.microsoft.com/office/drawing/2014/main" id="{79D4E8D3-F38A-DCC3-41EA-6BF3BFF30CE2}"/>
              </a:ext>
            </a:extLst>
          </p:cNvPr>
          <p:cNvSpPr>
            <a:spLocks noGrp="1"/>
          </p:cNvSpPr>
          <p:nvPr>
            <p:ph type="subTitle" idx="1"/>
          </p:nvPr>
        </p:nvSpPr>
        <p:spPr>
          <a:xfrm>
            <a:off x="5482828" y="982266"/>
            <a:ext cx="5738670" cy="4616648"/>
          </a:xfrm>
        </p:spPr>
        <p:txBody>
          <a:bodyPr>
            <a:normAutofit fontScale="32500" lnSpcReduction="20000"/>
          </a:bodyPr>
          <a:lstStyle/>
          <a:p>
            <a:r>
              <a:rPr lang="en-US" sz="7400" b="1" dirty="0">
                <a:latin typeface="Calibri" panose="020F0502020204030204" pitchFamily="34" charset="0"/>
                <a:cs typeface="Aharoni" panose="02010803020104030203" pitchFamily="2" charset="-79"/>
              </a:rPr>
              <a:t>Vth Semester End Semester Project  Presentation </a:t>
            </a:r>
          </a:p>
          <a:p>
            <a:r>
              <a:rPr lang="en-US" sz="6200" b="1" dirty="0">
                <a:latin typeface="Calibri" panose="020F0502020204030204" pitchFamily="34" charset="0"/>
                <a:cs typeface="Aharoni" panose="02010803020104030203" pitchFamily="2" charset="-79"/>
              </a:rPr>
              <a:t>on</a:t>
            </a:r>
          </a:p>
          <a:p>
            <a:r>
              <a:rPr lang="en-US" sz="5500" b="1" dirty="0">
                <a:latin typeface="Calibri" panose="020F0502020204030204" pitchFamily="34" charset="0"/>
              </a:rPr>
              <a:t>Dual Axis Solar Tracker</a:t>
            </a:r>
          </a:p>
          <a:p>
            <a:r>
              <a:rPr lang="en-US" b="1" dirty="0"/>
              <a:t>
</a:t>
            </a:r>
            <a:r>
              <a:rPr lang="en-US" sz="4900" b="1" dirty="0">
                <a:latin typeface="Calibri" panose="020F0502020204030204" pitchFamily="34" charset="0"/>
              </a:rPr>
              <a:t>Under the Guidance of</a:t>
            </a:r>
          </a:p>
          <a:p>
            <a:r>
              <a:rPr lang="en-US" sz="4900" b="1" dirty="0">
                <a:latin typeface="Calibri" panose="020F0502020204030204" pitchFamily="34" charset="0"/>
              </a:rPr>
              <a:t>Mrs Nirupam</a:t>
            </a:r>
          </a:p>
          <a:p>
            <a:r>
              <a:rPr lang="en-US" sz="4900" b="1" dirty="0">
                <a:latin typeface="Calibri" panose="020F0502020204030204" pitchFamily="34" charset="0"/>
              </a:rPr>
              <a:t>Assistant Professor, ECE, University Polytechnic, </a:t>
            </a:r>
          </a:p>
          <a:p>
            <a:r>
              <a:rPr lang="en-US" sz="4900" b="1" dirty="0">
                <a:latin typeface="Calibri" panose="020F0502020204030204" pitchFamily="34" charset="0"/>
              </a:rPr>
              <a:t>Birla Institute of Technology, Mesra</a:t>
            </a:r>
          </a:p>
          <a:p>
            <a:endParaRPr lang="en-US" sz="4900" b="1" dirty="0">
              <a:latin typeface="Calibri" panose="020F0502020204030204" pitchFamily="34" charset="0"/>
            </a:endParaRPr>
          </a:p>
          <a:p>
            <a:r>
              <a:rPr lang="en-US" sz="4900" b="1" dirty="0">
                <a:latin typeface="Calibri" panose="020F0502020204030204" pitchFamily="34" charset="0"/>
              </a:rPr>
              <a:t>Presented By</a:t>
            </a:r>
          </a:p>
          <a:p>
            <a:r>
              <a:rPr lang="en-US" sz="4900" b="1" dirty="0">
                <a:latin typeface="Calibri" panose="020F0502020204030204" pitchFamily="34" charset="0"/>
              </a:rPr>
              <a:t>Rounak Anand ;DL/025/22</a:t>
            </a:r>
          </a:p>
          <a:p>
            <a:r>
              <a:rPr lang="en-US" sz="4900" b="1" dirty="0">
                <a:latin typeface="Calibri" panose="020F0502020204030204" pitchFamily="34" charset="0"/>
              </a:rPr>
              <a:t>Satyam kr Sinha ;D/059/21</a:t>
            </a:r>
          </a:p>
        </p:txBody>
      </p:sp>
      <p:pic>
        <p:nvPicPr>
          <p:cNvPr id="3" name="Picture 2" descr="A blue abstract watercolor pattern on a white background">
            <a:extLst>
              <a:ext uri="{FF2B5EF4-FFF2-40B4-BE49-F238E27FC236}">
                <a16:creationId xmlns:a16="http://schemas.microsoft.com/office/drawing/2014/main" id="{B9F562EC-D022-5C1E-E5C1-38AB7E1C9AB0}"/>
              </a:ext>
            </a:extLst>
          </p:cNvPr>
          <p:cNvPicPr>
            <a:picLocks noChangeAspect="1"/>
          </p:cNvPicPr>
          <p:nvPr/>
        </p:nvPicPr>
        <p:blipFill rotWithShape="1">
          <a:blip r:embed="rId2"/>
          <a:srcRect l="13048" r="20401" b="-1"/>
          <a:stretch/>
        </p:blipFill>
        <p:spPr>
          <a:xfrm>
            <a:off x="20" y="758953"/>
            <a:ext cx="5327883" cy="5335854"/>
          </a:xfrm>
          <a:prstGeom prst="rect">
            <a:avLst/>
          </a:prstGeom>
        </p:spPr>
      </p:pic>
    </p:spTree>
    <p:extLst>
      <p:ext uri="{BB962C8B-B14F-4D97-AF65-F5344CB8AC3E}">
        <p14:creationId xmlns:p14="http://schemas.microsoft.com/office/powerpoint/2010/main" val="10107423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7C9A9-E180-A4A2-BA51-4A6640BD17DE}"/>
              </a:ext>
            </a:extLst>
          </p:cNvPr>
          <p:cNvSpPr>
            <a:spLocks noGrp="1"/>
          </p:cNvSpPr>
          <p:nvPr>
            <p:ph type="title"/>
          </p:nvPr>
        </p:nvSpPr>
        <p:spPr>
          <a:xfrm>
            <a:off x="1375172" y="910685"/>
            <a:ext cx="9286732" cy="857393"/>
          </a:xfrm>
        </p:spPr>
        <p:txBody>
          <a:bodyPr/>
          <a:lstStyle/>
          <a:p>
            <a:r>
              <a:rPr lang="en-US" dirty="0"/>
              <a:t>Contents :-</a:t>
            </a:r>
          </a:p>
        </p:txBody>
      </p:sp>
      <p:sp>
        <p:nvSpPr>
          <p:cNvPr id="3" name="Content Placeholder 2">
            <a:extLst>
              <a:ext uri="{FF2B5EF4-FFF2-40B4-BE49-F238E27FC236}">
                <a16:creationId xmlns:a16="http://schemas.microsoft.com/office/drawing/2014/main" id="{B2FFEBD4-A25F-C07E-1510-5E5437708E42}"/>
              </a:ext>
            </a:extLst>
          </p:cNvPr>
          <p:cNvSpPr>
            <a:spLocks noGrp="1"/>
          </p:cNvSpPr>
          <p:nvPr>
            <p:ph idx="1"/>
          </p:nvPr>
        </p:nvSpPr>
        <p:spPr>
          <a:xfrm>
            <a:off x="1375172" y="1768078"/>
            <a:ext cx="9298924" cy="4429125"/>
          </a:xfrm>
        </p:spPr>
        <p:txBody>
          <a:bodyPr>
            <a:normAutofit fontScale="92500" lnSpcReduction="10000"/>
          </a:bodyPr>
          <a:lstStyle/>
          <a:p>
            <a:pPr marL="0" indent="0">
              <a:buNone/>
            </a:pPr>
            <a:r>
              <a:rPr lang="en-US" sz="1800" b="1" dirty="0">
                <a:latin typeface="Calibri" panose="020F0502020204030204" pitchFamily="34" charset="0"/>
              </a:rPr>
              <a:t>• </a:t>
            </a:r>
            <a:r>
              <a:rPr lang="en-US" sz="2000" b="1" dirty="0">
                <a:latin typeface="Calibri" panose="020F0502020204030204" pitchFamily="34" charset="0"/>
              </a:rPr>
              <a:t>Introduction</a:t>
            </a:r>
          </a:p>
          <a:p>
            <a:pPr marL="0" indent="0">
              <a:buNone/>
            </a:pPr>
            <a:r>
              <a:rPr lang="en-US" sz="1800" b="1" dirty="0">
                <a:latin typeface="Calibri" panose="020F0502020204030204" pitchFamily="34" charset="0"/>
              </a:rPr>
              <a:t>• Concept of Solar Tracker</a:t>
            </a:r>
          </a:p>
          <a:p>
            <a:pPr marL="0" indent="0">
              <a:buNone/>
            </a:pPr>
            <a:r>
              <a:rPr lang="en-US" sz="1800" b="1" dirty="0">
                <a:latin typeface="Calibri" panose="020F0502020204030204" pitchFamily="34" charset="0"/>
              </a:rPr>
              <a:t>• List of components </a:t>
            </a:r>
          </a:p>
          <a:p>
            <a:pPr marL="0" indent="0">
              <a:buNone/>
            </a:pPr>
            <a:r>
              <a:rPr lang="en-US" sz="1800" b="1" dirty="0">
                <a:latin typeface="Calibri" panose="020F0502020204030204" pitchFamily="34" charset="0"/>
              </a:rPr>
              <a:t>• Circuit Diagram</a:t>
            </a:r>
          </a:p>
          <a:p>
            <a:pPr marL="0" indent="0">
              <a:buNone/>
            </a:pPr>
            <a:r>
              <a:rPr lang="en-US" sz="1800" b="1" dirty="0">
                <a:latin typeface="Calibri" panose="020F0502020204030204" pitchFamily="34" charset="0"/>
              </a:rPr>
              <a:t>• Circuit Explanation</a:t>
            </a:r>
          </a:p>
          <a:p>
            <a:pPr marL="0" indent="0">
              <a:buNone/>
            </a:pPr>
            <a:r>
              <a:rPr lang="en-US" sz="1800" b="1" dirty="0">
                <a:latin typeface="Calibri" panose="020F0502020204030204" pitchFamily="34" charset="0"/>
              </a:rPr>
              <a:t>• Working </a:t>
            </a:r>
          </a:p>
          <a:p>
            <a:pPr marL="0" indent="0">
              <a:buNone/>
            </a:pPr>
            <a:r>
              <a:rPr lang="en-US" sz="1800" b="1" dirty="0">
                <a:latin typeface="Calibri" panose="020F0502020204030204" pitchFamily="34" charset="0"/>
              </a:rPr>
              <a:t>• Future Scopes</a:t>
            </a:r>
          </a:p>
          <a:p>
            <a:pPr marL="0" indent="0">
              <a:buNone/>
            </a:pPr>
            <a:r>
              <a:rPr lang="en-US" sz="1800" b="1" dirty="0">
                <a:latin typeface="Calibri" panose="020F0502020204030204" pitchFamily="34" charset="0"/>
              </a:rPr>
              <a:t>• Applications</a:t>
            </a:r>
          </a:p>
          <a:p>
            <a:pPr marL="0" indent="0">
              <a:buNone/>
            </a:pPr>
            <a:r>
              <a:rPr lang="en-US" sz="1800" b="1" dirty="0">
                <a:latin typeface="Calibri" panose="020F0502020204030204" pitchFamily="34" charset="0"/>
              </a:rPr>
              <a:t>• Merits</a:t>
            </a:r>
          </a:p>
          <a:p>
            <a:pPr marL="0" indent="0">
              <a:buNone/>
            </a:pPr>
            <a:r>
              <a:rPr lang="en-US" sz="1800" b="1" dirty="0">
                <a:latin typeface="Calibri" panose="020F0502020204030204" pitchFamily="34" charset="0"/>
              </a:rPr>
              <a:t>• Drawbacks</a:t>
            </a:r>
          </a:p>
          <a:p>
            <a:pPr marL="0" indent="0">
              <a:buNone/>
            </a:pPr>
            <a:r>
              <a:rPr lang="en-US" sz="1800" b="1" dirty="0">
                <a:latin typeface="Calibri" panose="020F0502020204030204" pitchFamily="34" charset="0"/>
              </a:rPr>
              <a:t>• Visual Representation </a:t>
            </a:r>
          </a:p>
          <a:p>
            <a:pPr marL="0" indent="0">
              <a:buNone/>
            </a:pPr>
            <a:r>
              <a:rPr lang="en-US" sz="1800" b="1" dirty="0">
                <a:latin typeface="Calibri" panose="020F0502020204030204" pitchFamily="34" charset="0"/>
              </a:rPr>
              <a:t>• References</a:t>
            </a:r>
          </a:p>
        </p:txBody>
      </p:sp>
    </p:spTree>
    <p:extLst>
      <p:ext uri="{BB962C8B-B14F-4D97-AF65-F5344CB8AC3E}">
        <p14:creationId xmlns:p14="http://schemas.microsoft.com/office/powerpoint/2010/main" val="31401177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F78B-3E04-5BD7-68A3-AD9C9DC776D7}"/>
              </a:ext>
            </a:extLst>
          </p:cNvPr>
          <p:cNvSpPr>
            <a:spLocks noGrp="1"/>
          </p:cNvSpPr>
          <p:nvPr>
            <p:ph type="title"/>
          </p:nvPr>
        </p:nvSpPr>
        <p:spPr>
          <a:xfrm>
            <a:off x="1071420" y="1088137"/>
            <a:ext cx="9144000" cy="894254"/>
          </a:xfrm>
        </p:spPr>
        <p:txBody>
          <a:bodyPr/>
          <a:lstStyle/>
          <a:p>
            <a:r>
              <a:rPr lang="en-US" dirty="0"/>
              <a:t>INTRODUCTION :-</a:t>
            </a:r>
          </a:p>
        </p:txBody>
      </p:sp>
      <p:sp>
        <p:nvSpPr>
          <p:cNvPr id="7" name="Content Placeholder 6">
            <a:extLst>
              <a:ext uri="{FF2B5EF4-FFF2-40B4-BE49-F238E27FC236}">
                <a16:creationId xmlns:a16="http://schemas.microsoft.com/office/drawing/2014/main" id="{5CC01187-A78A-8DDD-B899-415732403EC4}"/>
              </a:ext>
            </a:extLst>
          </p:cNvPr>
          <p:cNvSpPr>
            <a:spLocks noGrp="1"/>
          </p:cNvSpPr>
          <p:nvPr>
            <p:ph idx="1"/>
          </p:nvPr>
        </p:nvSpPr>
        <p:spPr>
          <a:xfrm>
            <a:off x="1071420" y="1982390"/>
            <a:ext cx="6929580" cy="4304109"/>
          </a:xfrm>
        </p:spPr>
        <p:txBody>
          <a:bodyPr>
            <a:normAutofit/>
          </a:bodyPr>
          <a:lstStyle/>
          <a:p>
            <a:pPr marL="0" indent="0" algn="just">
              <a:buNone/>
            </a:pPr>
            <a:r>
              <a:rPr lang="en-US" sz="1800" dirty="0"/>
              <a:t> </a:t>
            </a:r>
            <a:r>
              <a:rPr lang="en-US" sz="2000" dirty="0"/>
              <a:t>A solar tracker is a device that orients a payload towards   the sun.</a:t>
            </a:r>
          </a:p>
          <a:p>
            <a:pPr marL="0" indent="0" algn="just">
              <a:buNone/>
            </a:pPr>
            <a:r>
              <a:rPr lang="en-US" sz="2000" dirty="0"/>
              <a:t>Payloads can be photovoltaic panels, reflector, lenses or        other optical devices.</a:t>
            </a:r>
          </a:p>
          <a:p>
            <a:pPr marL="0" indent="0" algn="just">
              <a:buNone/>
            </a:pPr>
            <a:r>
              <a:rPr lang="en-US" sz="2000" dirty="0"/>
              <a:t>In solar tracker concentrated photovoltaic (CPV) and     concentrated solar power  (CSP) applications are used.</a:t>
            </a:r>
          </a:p>
          <a:p>
            <a:pPr marL="0" indent="0" algn="just">
              <a:buNone/>
            </a:pPr>
            <a:r>
              <a:rPr lang="en-US" sz="2000" dirty="0"/>
              <a:t>These trackers are used to enable the optical components in the CPV and CSP system.</a:t>
            </a:r>
          </a:p>
          <a:p>
            <a:pPr marL="0" indent="0" algn="just">
              <a:buNone/>
            </a:pPr>
            <a:r>
              <a:rPr lang="en-US" sz="2000" dirty="0"/>
              <a:t>The optics is concentrated solar application accept the direct component of sunlight and therefore must be oriented appropriately to collect energy.</a:t>
            </a:r>
          </a:p>
        </p:txBody>
      </p:sp>
      <p:pic>
        <p:nvPicPr>
          <p:cNvPr id="3" name="Picture 3">
            <a:extLst>
              <a:ext uri="{FF2B5EF4-FFF2-40B4-BE49-F238E27FC236}">
                <a16:creationId xmlns:a16="http://schemas.microsoft.com/office/drawing/2014/main" id="{B72D0F2B-C4B4-89B4-A7A7-91E4DDFD5C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2317" y="3429000"/>
            <a:ext cx="3152658" cy="1446610"/>
          </a:xfrm>
          <a:prstGeom prst="rect">
            <a:avLst/>
          </a:prstGeom>
        </p:spPr>
      </p:pic>
    </p:spTree>
    <p:extLst>
      <p:ext uri="{BB962C8B-B14F-4D97-AF65-F5344CB8AC3E}">
        <p14:creationId xmlns:p14="http://schemas.microsoft.com/office/powerpoint/2010/main" val="31592940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577C3-A57F-BDAA-4CAB-0050851F3EAF}"/>
              </a:ext>
            </a:extLst>
          </p:cNvPr>
          <p:cNvSpPr>
            <a:spLocks noGrp="1"/>
          </p:cNvSpPr>
          <p:nvPr>
            <p:ph type="title"/>
          </p:nvPr>
        </p:nvSpPr>
        <p:spPr>
          <a:xfrm>
            <a:off x="1232440" y="946404"/>
            <a:ext cx="9286732" cy="750237"/>
          </a:xfrm>
        </p:spPr>
        <p:txBody>
          <a:bodyPr/>
          <a:lstStyle/>
          <a:p>
            <a:r>
              <a:rPr lang="en-US" dirty="0"/>
              <a:t>Concept of solar tracker:-</a:t>
            </a:r>
          </a:p>
        </p:txBody>
      </p:sp>
      <p:sp>
        <p:nvSpPr>
          <p:cNvPr id="3" name="Content Placeholder 2">
            <a:extLst>
              <a:ext uri="{FF2B5EF4-FFF2-40B4-BE49-F238E27FC236}">
                <a16:creationId xmlns:a16="http://schemas.microsoft.com/office/drawing/2014/main" id="{31CD43E0-4F78-FC31-0224-ACFB92B9F0AA}"/>
              </a:ext>
            </a:extLst>
          </p:cNvPr>
          <p:cNvSpPr>
            <a:spLocks noGrp="1"/>
          </p:cNvSpPr>
          <p:nvPr>
            <p:ph idx="1"/>
          </p:nvPr>
        </p:nvSpPr>
        <p:spPr>
          <a:xfrm>
            <a:off x="1232440" y="1865376"/>
            <a:ext cx="9144000" cy="4046220"/>
          </a:xfrm>
        </p:spPr>
        <p:txBody>
          <a:bodyPr>
            <a:normAutofit lnSpcReduction="10000"/>
          </a:bodyPr>
          <a:lstStyle/>
          <a:p>
            <a:pPr marL="0" indent="0" algn="just">
              <a:buNone/>
            </a:pPr>
            <a:r>
              <a:rPr lang="en-US" sz="2400" dirty="0"/>
              <a:t>Sunlight has two components,</a:t>
            </a:r>
          </a:p>
          <a:p>
            <a:pPr marL="457200" indent="-457200" algn="just">
              <a:buAutoNum type="arabicPeriod"/>
            </a:pPr>
            <a:r>
              <a:rPr lang="en-US" sz="2400" dirty="0"/>
              <a:t>Direct beam</a:t>
            </a:r>
          </a:p>
          <a:p>
            <a:pPr marL="457200" indent="-457200" algn="just">
              <a:buAutoNum type="arabicPeriod"/>
            </a:pPr>
            <a:r>
              <a:rPr lang="en-US" sz="2400" dirty="0"/>
              <a:t>Diffuse sunlight</a:t>
            </a:r>
          </a:p>
          <a:p>
            <a:pPr marL="0" indent="0" algn="just">
              <a:buNone/>
            </a:pPr>
            <a:r>
              <a:rPr lang="en-US" sz="2400" dirty="0"/>
              <a:t>The direct beam that carries about 90% of the solar energy.</a:t>
            </a:r>
          </a:p>
          <a:p>
            <a:pPr marL="0" indent="0" algn="just">
              <a:buNone/>
            </a:pPr>
            <a:r>
              <a:rPr lang="en-US" sz="2400" dirty="0"/>
              <a:t>The diffuse sunlight that carries the remainder the diffuse portion is the blue sky on a clear day </a:t>
            </a:r>
            <a:r>
              <a:rPr lang="en-US" sz="2400"/>
              <a:t>increases proportionately .</a:t>
            </a:r>
            <a:endParaRPr lang="en-US" sz="2400" dirty="0"/>
          </a:p>
          <a:p>
            <a:pPr marL="0" indent="0" algn="just">
              <a:buNone/>
            </a:pPr>
            <a:r>
              <a:rPr lang="en-US" sz="2400" dirty="0"/>
              <a:t>As the majority of the energy is in the direct beam, maximizing collection requires the sun to be visible to the panels as long as possible.</a:t>
            </a:r>
          </a:p>
          <a:p>
            <a:pPr marL="0" indent="0" algn="just">
              <a:buNone/>
            </a:pPr>
            <a:endParaRPr lang="en-US" sz="2400" dirty="0"/>
          </a:p>
        </p:txBody>
      </p:sp>
    </p:spTree>
    <p:extLst>
      <p:ext uri="{BB962C8B-B14F-4D97-AF65-F5344CB8AC3E}">
        <p14:creationId xmlns:p14="http://schemas.microsoft.com/office/powerpoint/2010/main" val="15597842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77D2C-0106-1B35-0663-A786464921F9}"/>
              </a:ext>
            </a:extLst>
          </p:cNvPr>
          <p:cNvSpPr>
            <a:spLocks noGrp="1"/>
          </p:cNvSpPr>
          <p:nvPr>
            <p:ph type="title"/>
          </p:nvPr>
        </p:nvSpPr>
        <p:spPr>
          <a:xfrm>
            <a:off x="1517904" y="1053560"/>
            <a:ext cx="9144000" cy="803815"/>
          </a:xfrm>
        </p:spPr>
        <p:txBody>
          <a:bodyPr/>
          <a:lstStyle/>
          <a:p>
            <a:r>
              <a:rPr lang="en-US" dirty="0"/>
              <a:t>List Of components:-</a:t>
            </a:r>
          </a:p>
        </p:txBody>
      </p:sp>
      <p:sp>
        <p:nvSpPr>
          <p:cNvPr id="3" name="Content Placeholder 2">
            <a:extLst>
              <a:ext uri="{FF2B5EF4-FFF2-40B4-BE49-F238E27FC236}">
                <a16:creationId xmlns:a16="http://schemas.microsoft.com/office/drawing/2014/main" id="{AFE122ED-D6B6-05AE-EF75-72916527BEF5}"/>
              </a:ext>
            </a:extLst>
          </p:cNvPr>
          <p:cNvSpPr>
            <a:spLocks noGrp="1"/>
          </p:cNvSpPr>
          <p:nvPr>
            <p:ph idx="1"/>
          </p:nvPr>
        </p:nvSpPr>
        <p:spPr>
          <a:xfrm>
            <a:off x="1517904" y="2053828"/>
            <a:ext cx="9144000" cy="3970069"/>
          </a:xfrm>
        </p:spPr>
        <p:txBody>
          <a:bodyPr>
            <a:normAutofit fontScale="85000" lnSpcReduction="20000"/>
          </a:bodyPr>
          <a:lstStyle/>
          <a:p>
            <a:pPr marL="0" indent="0">
              <a:buNone/>
            </a:pPr>
            <a:r>
              <a:rPr lang="en-US" dirty="0"/>
              <a:t>1.100 k ohm Resistance </a:t>
            </a:r>
          </a:p>
          <a:p>
            <a:pPr marL="0" indent="0">
              <a:buNone/>
            </a:pPr>
            <a:r>
              <a:rPr lang="en-US" dirty="0"/>
              <a:t>2.LDR sensor </a:t>
            </a:r>
          </a:p>
          <a:p>
            <a:pPr marL="0" indent="0">
              <a:buNone/>
            </a:pPr>
            <a:r>
              <a:rPr lang="en-US" dirty="0"/>
              <a:t>3.Breadboard</a:t>
            </a:r>
          </a:p>
          <a:p>
            <a:pPr marL="0" indent="0">
              <a:buNone/>
            </a:pPr>
            <a:r>
              <a:rPr lang="en-US" dirty="0"/>
              <a:t>4.Servomotor</a:t>
            </a:r>
          </a:p>
          <a:p>
            <a:pPr marL="0" indent="0">
              <a:buNone/>
            </a:pPr>
            <a:r>
              <a:rPr lang="en-US" dirty="0"/>
              <a:t>5.Jumper wires</a:t>
            </a:r>
          </a:p>
          <a:p>
            <a:pPr marL="0" indent="0">
              <a:buNone/>
            </a:pPr>
            <a:r>
              <a:rPr lang="en-US" dirty="0"/>
              <a:t>6. Arduino uno</a:t>
            </a:r>
          </a:p>
          <a:p>
            <a:pPr marL="0" indent="0">
              <a:buNone/>
            </a:pPr>
            <a:r>
              <a:rPr lang="en-US" dirty="0"/>
              <a:t>7.Solar panel</a:t>
            </a:r>
          </a:p>
          <a:p>
            <a:pPr marL="0" indent="0">
              <a:buNone/>
            </a:pPr>
            <a:r>
              <a:rPr lang="en-US" dirty="0"/>
              <a:t>8. Soldering kit</a:t>
            </a:r>
          </a:p>
          <a:p>
            <a:pPr marL="0" indent="0">
              <a:buNone/>
            </a:pPr>
            <a:r>
              <a:rPr lang="en-US" dirty="0"/>
              <a:t>9.Rubber glue gun</a:t>
            </a:r>
          </a:p>
          <a:p>
            <a:pPr marL="0" indent="0">
              <a:buNone/>
            </a:pPr>
            <a:r>
              <a:rPr lang="en-US" dirty="0"/>
              <a:t>10.Printed Circuit Board</a:t>
            </a:r>
          </a:p>
        </p:txBody>
      </p:sp>
    </p:spTree>
    <p:extLst>
      <p:ext uri="{BB962C8B-B14F-4D97-AF65-F5344CB8AC3E}">
        <p14:creationId xmlns:p14="http://schemas.microsoft.com/office/powerpoint/2010/main" val="33115262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FEAA3-F73F-8A8D-79F8-FF259BCDDF1E}"/>
              </a:ext>
            </a:extLst>
          </p:cNvPr>
          <p:cNvSpPr>
            <a:spLocks noGrp="1"/>
          </p:cNvSpPr>
          <p:nvPr>
            <p:ph type="title"/>
          </p:nvPr>
        </p:nvSpPr>
        <p:spPr>
          <a:xfrm>
            <a:off x="1517904" y="1053704"/>
            <a:ext cx="9144000" cy="678656"/>
          </a:xfrm>
        </p:spPr>
        <p:txBody>
          <a:bodyPr>
            <a:normAutofit fontScale="90000"/>
          </a:bodyPr>
          <a:lstStyle/>
          <a:p>
            <a:r>
              <a:rPr lang="en-US" dirty="0"/>
              <a:t>Circuit diagram :-</a:t>
            </a:r>
          </a:p>
        </p:txBody>
      </p:sp>
      <p:pic>
        <p:nvPicPr>
          <p:cNvPr id="5" name="Picture 3">
            <a:extLst>
              <a:ext uri="{FF2B5EF4-FFF2-40B4-BE49-F238E27FC236}">
                <a16:creationId xmlns:a16="http://schemas.microsoft.com/office/drawing/2014/main" id="{0FA538E6-A39C-2F81-5211-937C5ECDE500}"/>
              </a:ext>
            </a:extLst>
          </p:cNvPr>
          <p:cNvPicPr>
            <a:picLocks noChangeAspect="1"/>
          </p:cNvPicPr>
          <p:nvPr/>
        </p:nvPicPr>
        <p:blipFill>
          <a:blip r:embed="rId2"/>
          <a:stretch>
            <a:fillRect/>
          </a:stretch>
        </p:blipFill>
        <p:spPr>
          <a:xfrm>
            <a:off x="1303733" y="1976379"/>
            <a:ext cx="9144000" cy="4042647"/>
          </a:xfrm>
          <a:prstGeom prst="rect">
            <a:avLst/>
          </a:prstGeom>
        </p:spPr>
      </p:pic>
    </p:spTree>
    <p:extLst>
      <p:ext uri="{BB962C8B-B14F-4D97-AF65-F5344CB8AC3E}">
        <p14:creationId xmlns:p14="http://schemas.microsoft.com/office/powerpoint/2010/main" val="24562242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8D117-EBAB-0CA9-260C-D7F92FB56CA5}"/>
              </a:ext>
            </a:extLst>
          </p:cNvPr>
          <p:cNvSpPr>
            <a:spLocks noGrp="1"/>
          </p:cNvSpPr>
          <p:nvPr>
            <p:ph type="title"/>
          </p:nvPr>
        </p:nvSpPr>
        <p:spPr>
          <a:xfrm>
            <a:off x="1524000" y="910685"/>
            <a:ext cx="9144000" cy="750237"/>
          </a:xfrm>
        </p:spPr>
        <p:txBody>
          <a:bodyPr/>
          <a:lstStyle/>
          <a:p>
            <a:r>
              <a:rPr lang="en-US" dirty="0"/>
              <a:t>Circuit Explanation:-</a:t>
            </a:r>
          </a:p>
        </p:txBody>
      </p:sp>
      <p:sp>
        <p:nvSpPr>
          <p:cNvPr id="3" name="Content Placeholder 2">
            <a:extLst>
              <a:ext uri="{FF2B5EF4-FFF2-40B4-BE49-F238E27FC236}">
                <a16:creationId xmlns:a16="http://schemas.microsoft.com/office/drawing/2014/main" id="{3F297393-8A4F-B496-4B2B-8A53D1925F24}"/>
              </a:ext>
            </a:extLst>
          </p:cNvPr>
          <p:cNvSpPr>
            <a:spLocks noGrp="1"/>
          </p:cNvSpPr>
          <p:nvPr>
            <p:ph idx="1"/>
          </p:nvPr>
        </p:nvSpPr>
        <p:spPr>
          <a:xfrm>
            <a:off x="1524000" y="1660922"/>
            <a:ext cx="8584406" cy="4286393"/>
          </a:xfrm>
        </p:spPr>
        <p:txBody>
          <a:bodyPr anchor="ctr">
            <a:noAutofit/>
          </a:bodyPr>
          <a:lstStyle/>
          <a:p>
            <a:pPr marL="0" indent="0" algn="just">
              <a:buNone/>
            </a:pPr>
            <a:r>
              <a:rPr lang="en-US" sz="2000" dirty="0"/>
              <a:t>The series connection of resistance and LDR is connected to the pin A0,  A1 , A2 , A3 respectively, This pin is termed as analog input . The value of Each resistance is of 100 kilo ohm . 5v of power supply is applied to both the servo motors , and one pin connected to GND(ground). The servo motor is connected to the pin 10 and 9 of the Arduino Uno, Which used to give them a digital PWM signal i.e (pulse width modulating signal). Ground servo motor is connected to the pin 10 .Tilt servo motor is connected to the pin 9.</a:t>
            </a:r>
          </a:p>
          <a:p>
            <a:pPr marL="0" indent="0" algn="just">
              <a:buNone/>
            </a:pPr>
            <a:r>
              <a:rPr lang="en-US" sz="2000" dirty="0"/>
              <a:t>Ground servo motor help the solar panel to move in horizontal direction i.e (x-axis).</a:t>
            </a:r>
          </a:p>
          <a:p>
            <a:pPr marL="0" indent="0" algn="just">
              <a:buNone/>
            </a:pPr>
            <a:r>
              <a:rPr lang="en-US" sz="2000" dirty="0"/>
              <a:t>Tilt servo motor help the solar panel to move in vertical direction i.e (y-axis).</a:t>
            </a:r>
          </a:p>
        </p:txBody>
      </p:sp>
    </p:spTree>
    <p:extLst>
      <p:ext uri="{BB962C8B-B14F-4D97-AF65-F5344CB8AC3E}">
        <p14:creationId xmlns:p14="http://schemas.microsoft.com/office/powerpoint/2010/main" val="30420141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FE78F-84C6-67E0-E929-F095E8EE092F}"/>
              </a:ext>
            </a:extLst>
          </p:cNvPr>
          <p:cNvSpPr>
            <a:spLocks noGrp="1"/>
          </p:cNvSpPr>
          <p:nvPr>
            <p:ph type="title"/>
          </p:nvPr>
        </p:nvSpPr>
        <p:spPr>
          <a:xfrm>
            <a:off x="1321451" y="999981"/>
            <a:ext cx="9144000" cy="750237"/>
          </a:xfrm>
        </p:spPr>
        <p:txBody>
          <a:bodyPr/>
          <a:lstStyle/>
          <a:p>
            <a:r>
              <a:rPr lang="en-US" dirty="0"/>
              <a:t>Working of Dual Axis Solar Tracker </a:t>
            </a:r>
          </a:p>
        </p:txBody>
      </p:sp>
      <p:sp>
        <p:nvSpPr>
          <p:cNvPr id="3" name="Content Placeholder 2">
            <a:extLst>
              <a:ext uri="{FF2B5EF4-FFF2-40B4-BE49-F238E27FC236}">
                <a16:creationId xmlns:a16="http://schemas.microsoft.com/office/drawing/2014/main" id="{52EE412B-ACEB-2AE7-8632-22AEE0164BFF}"/>
              </a:ext>
            </a:extLst>
          </p:cNvPr>
          <p:cNvSpPr>
            <a:spLocks noGrp="1"/>
          </p:cNvSpPr>
          <p:nvPr>
            <p:ph idx="1"/>
          </p:nvPr>
        </p:nvSpPr>
        <p:spPr>
          <a:xfrm>
            <a:off x="1321451" y="1980535"/>
            <a:ext cx="9144000" cy="3877484"/>
          </a:xfrm>
        </p:spPr>
        <p:txBody>
          <a:bodyPr>
            <a:normAutofit fontScale="85000" lnSpcReduction="20000"/>
          </a:bodyPr>
          <a:lstStyle/>
          <a:p>
            <a:pPr marL="0" indent="0" algn="just">
              <a:buNone/>
            </a:pPr>
            <a:r>
              <a:rPr lang="en-US" dirty="0"/>
              <a:t>Dual axis tracking is typically used to orient a mirror and redirect sunlight along a fixed axis towards a stationary receiver . But the system can also gain additional yield on our PV cells .The sensor used to sense the solar light rays and used to redirect the signal to the servo motor and servo motor used to move the Solar panel on the Direction of solar light and used to gain energy which is further used to converted into electricity.</a:t>
            </a:r>
          </a:p>
          <a:p>
            <a:pPr marL="0" indent="0" algn="just">
              <a:buNone/>
            </a:pPr>
            <a:r>
              <a:rPr lang="en-US" dirty="0"/>
              <a:t>LINAK can provide the good quality of actuators that moves these panels on dual axis .Solar tracking is an obvious way to improve the efficiency of solar power plants .As the sun moves across the sky an electric actuator system makes sure that solar panels automatically follow and maintain.</a:t>
            </a:r>
          </a:p>
        </p:txBody>
      </p:sp>
    </p:spTree>
    <p:extLst>
      <p:ext uri="{BB962C8B-B14F-4D97-AF65-F5344CB8AC3E}">
        <p14:creationId xmlns:p14="http://schemas.microsoft.com/office/powerpoint/2010/main" val="12665085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9C4EC-72B2-D6C2-17E4-1969B1B52598}"/>
              </a:ext>
            </a:extLst>
          </p:cNvPr>
          <p:cNvSpPr>
            <a:spLocks noGrp="1"/>
          </p:cNvSpPr>
          <p:nvPr>
            <p:ph type="title"/>
          </p:nvPr>
        </p:nvSpPr>
        <p:spPr>
          <a:xfrm>
            <a:off x="1375172" y="999982"/>
            <a:ext cx="9286732" cy="821674"/>
          </a:xfrm>
        </p:spPr>
        <p:txBody>
          <a:bodyPr/>
          <a:lstStyle/>
          <a:p>
            <a:r>
              <a:rPr lang="en-US" dirty="0"/>
              <a:t>Applications of Solar Tracker :-</a:t>
            </a:r>
          </a:p>
        </p:txBody>
      </p:sp>
      <p:sp>
        <p:nvSpPr>
          <p:cNvPr id="3" name="Content Placeholder 2">
            <a:extLst>
              <a:ext uri="{FF2B5EF4-FFF2-40B4-BE49-F238E27FC236}">
                <a16:creationId xmlns:a16="http://schemas.microsoft.com/office/drawing/2014/main" id="{DDF5DC97-6EA4-85D6-9201-65B8C71113AE}"/>
              </a:ext>
            </a:extLst>
          </p:cNvPr>
          <p:cNvSpPr>
            <a:spLocks noGrp="1"/>
          </p:cNvSpPr>
          <p:nvPr>
            <p:ph idx="1"/>
          </p:nvPr>
        </p:nvSpPr>
        <p:spPr>
          <a:xfrm>
            <a:off x="1375172" y="1821656"/>
            <a:ext cx="9822657" cy="3536157"/>
          </a:xfrm>
        </p:spPr>
        <p:txBody>
          <a:bodyPr anchor="ctr">
            <a:noAutofit/>
          </a:bodyPr>
          <a:lstStyle/>
          <a:p>
            <a:pPr marL="0" indent="0" algn="just">
              <a:buNone/>
            </a:pPr>
            <a:r>
              <a:rPr lang="en-US" sz="1800" dirty="0"/>
              <a:t>1. It helps to generate nearly 40% more power than a fixed solar panel.</a:t>
            </a:r>
          </a:p>
          <a:p>
            <a:pPr marL="0" indent="0" algn="just">
              <a:buNone/>
            </a:pPr>
            <a:r>
              <a:rPr lang="en-US" sz="1800" dirty="0"/>
              <a:t>2.Increase energy by tracking sun rays from  switching solar panel in various   directions.</a:t>
            </a:r>
          </a:p>
          <a:p>
            <a:pPr marL="0" indent="0" algn="just">
              <a:buNone/>
            </a:pPr>
            <a:r>
              <a:rPr lang="en-US" sz="1800" dirty="0"/>
              <a:t>3. According to the measured readings the efficiency of the dual axis tracker is found to be 81.68% higher than that  of fixed panel.</a:t>
            </a:r>
          </a:p>
          <a:p>
            <a:pPr marL="0" indent="0" algn="just">
              <a:buNone/>
            </a:pPr>
            <a:r>
              <a:rPr lang="en-US" sz="1800" dirty="0"/>
              <a:t>4. Power output can be increased by about 30 to 40 percent.</a:t>
            </a:r>
          </a:p>
          <a:p>
            <a:pPr marL="0" indent="0" algn="just">
              <a:buNone/>
            </a:pPr>
            <a:r>
              <a:rPr lang="en-US" sz="1800" dirty="0"/>
              <a:t>5. It can be used for large and medium scale power generations. </a:t>
            </a:r>
          </a:p>
          <a:p>
            <a:pPr marL="0" indent="0" algn="just">
              <a:buNone/>
            </a:pPr>
            <a:r>
              <a:rPr lang="en-US" sz="1800" dirty="0"/>
              <a:t>6. It can also be used for power generation at remote places.</a:t>
            </a:r>
          </a:p>
          <a:p>
            <a:pPr marL="0" indent="0" algn="just">
              <a:buNone/>
            </a:pPr>
            <a:r>
              <a:rPr lang="en-US" sz="1800" dirty="0"/>
              <a:t>7</a:t>
            </a:r>
            <a:r>
              <a:rPr lang="en-US" sz="1800"/>
              <a:t>. </a:t>
            </a:r>
            <a:r>
              <a:rPr lang="en-US" sz="1800" dirty="0"/>
              <a:t>It may be used as domestic backup power systems.</a:t>
            </a:r>
          </a:p>
        </p:txBody>
      </p:sp>
    </p:spTree>
    <p:extLst>
      <p:ext uri="{BB962C8B-B14F-4D97-AF65-F5344CB8AC3E}">
        <p14:creationId xmlns:p14="http://schemas.microsoft.com/office/powerpoint/2010/main" val="42249652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8AB7F-9954-1DBF-3624-55D0EC962338}"/>
              </a:ext>
            </a:extLst>
          </p:cNvPr>
          <p:cNvSpPr>
            <a:spLocks noGrp="1"/>
          </p:cNvSpPr>
          <p:nvPr>
            <p:ph type="title"/>
          </p:nvPr>
        </p:nvSpPr>
        <p:spPr>
          <a:xfrm>
            <a:off x="1517904" y="1000125"/>
            <a:ext cx="9144000" cy="678656"/>
          </a:xfrm>
        </p:spPr>
        <p:txBody>
          <a:bodyPr>
            <a:normAutofit fontScale="90000"/>
          </a:bodyPr>
          <a:lstStyle/>
          <a:p>
            <a:r>
              <a:rPr lang="en-US" dirty="0"/>
              <a:t>Future Scopes Of Solar Tracker :-</a:t>
            </a:r>
          </a:p>
        </p:txBody>
      </p:sp>
      <p:sp>
        <p:nvSpPr>
          <p:cNvPr id="5" name="Content Placeholder 4">
            <a:extLst>
              <a:ext uri="{FF2B5EF4-FFF2-40B4-BE49-F238E27FC236}">
                <a16:creationId xmlns:a16="http://schemas.microsoft.com/office/drawing/2014/main" id="{CE327E98-2C5A-23CB-9223-66F437FF936A}"/>
              </a:ext>
            </a:extLst>
          </p:cNvPr>
          <p:cNvSpPr>
            <a:spLocks noGrp="1"/>
          </p:cNvSpPr>
          <p:nvPr>
            <p:ph idx="1"/>
          </p:nvPr>
        </p:nvSpPr>
        <p:spPr>
          <a:xfrm>
            <a:off x="1530096" y="1678781"/>
            <a:ext cx="8381857" cy="4839891"/>
          </a:xfrm>
        </p:spPr>
        <p:txBody>
          <a:bodyPr>
            <a:normAutofit/>
          </a:bodyPr>
          <a:lstStyle/>
          <a:p>
            <a:pPr marL="0" indent="0" algn="just">
              <a:buNone/>
            </a:pPr>
            <a:r>
              <a:rPr lang="en-US" sz="1800" dirty="0"/>
              <a:t>The goals of this project were a purposely kept  within what was believed to be attainable within the allotted timeline. As such, many advanced improvements can be made up of initial design of solar tracker. It is felt that this design represents a functioning scale model which could be replicated for a much larger scale. </a:t>
            </a:r>
          </a:p>
          <a:p>
            <a:pPr marL="0" indent="0" algn="just">
              <a:buNone/>
            </a:pPr>
            <a:r>
              <a:rPr lang="en-US" sz="1800" dirty="0"/>
              <a:t>following recommendations are provided as ideas for future expansion for this project.</a:t>
            </a:r>
          </a:p>
          <a:p>
            <a:pPr marL="0" indent="0" algn="just">
              <a:buNone/>
            </a:pPr>
            <a:r>
              <a:rPr lang="en-US" sz="1800" dirty="0"/>
              <a:t>1. We can use wood and other locally available materials instead of Mild steel and thus reduce the cost further.</a:t>
            </a:r>
          </a:p>
          <a:p>
            <a:pPr marL="0" indent="0" algn="just">
              <a:buNone/>
            </a:pPr>
            <a:r>
              <a:rPr lang="en-US" sz="1800" dirty="0"/>
              <a:t>2.A spring of appropriate stiffness could be designed to avoid sudden jerks.</a:t>
            </a:r>
          </a:p>
          <a:p>
            <a:pPr marL="0" indent="0" algn="just">
              <a:buNone/>
            </a:pPr>
            <a:r>
              <a:rPr lang="en-US" sz="1800" dirty="0"/>
              <a:t>3. Provisions for safety of solar panels from rain.</a:t>
            </a:r>
          </a:p>
          <a:p>
            <a:pPr marL="0" indent="0" algn="just">
              <a:buNone/>
            </a:pPr>
            <a:r>
              <a:rPr lang="en-US" sz="1800" dirty="0"/>
              <a:t>4. More accuracy can be achieved by providing measures against wind vibrations.</a:t>
            </a:r>
          </a:p>
        </p:txBody>
      </p:sp>
    </p:spTree>
    <p:extLst>
      <p:ext uri="{BB962C8B-B14F-4D97-AF65-F5344CB8AC3E}">
        <p14:creationId xmlns:p14="http://schemas.microsoft.com/office/powerpoint/2010/main" val="5332654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4691F-FDD4-549D-8782-523E951DB6FD}"/>
              </a:ext>
            </a:extLst>
          </p:cNvPr>
          <p:cNvSpPr>
            <a:spLocks noGrp="1"/>
          </p:cNvSpPr>
          <p:nvPr>
            <p:ph type="title"/>
          </p:nvPr>
        </p:nvSpPr>
        <p:spPr>
          <a:xfrm>
            <a:off x="1392888" y="1125141"/>
            <a:ext cx="9144000" cy="767953"/>
          </a:xfrm>
        </p:spPr>
        <p:txBody>
          <a:bodyPr>
            <a:normAutofit/>
          </a:bodyPr>
          <a:lstStyle/>
          <a:p>
            <a:r>
              <a:rPr lang="en-US" dirty="0"/>
              <a:t>Merits of solar tracker :-</a:t>
            </a:r>
          </a:p>
        </p:txBody>
      </p:sp>
      <p:sp>
        <p:nvSpPr>
          <p:cNvPr id="3" name="Content Placeholder 2">
            <a:extLst>
              <a:ext uri="{FF2B5EF4-FFF2-40B4-BE49-F238E27FC236}">
                <a16:creationId xmlns:a16="http://schemas.microsoft.com/office/drawing/2014/main" id="{4C35476F-6275-03FD-B3C1-924612EC4F97}"/>
              </a:ext>
            </a:extLst>
          </p:cNvPr>
          <p:cNvSpPr>
            <a:spLocks noGrp="1"/>
          </p:cNvSpPr>
          <p:nvPr>
            <p:ph idx="1"/>
          </p:nvPr>
        </p:nvSpPr>
        <p:spPr>
          <a:xfrm>
            <a:off x="1392888" y="1893094"/>
            <a:ext cx="9751362" cy="4339828"/>
          </a:xfrm>
        </p:spPr>
        <p:txBody>
          <a:bodyPr>
            <a:normAutofit fontScale="92500"/>
          </a:bodyPr>
          <a:lstStyle/>
          <a:p>
            <a:pPr marL="0" indent="0" algn="just">
              <a:buNone/>
            </a:pPr>
            <a:r>
              <a:rPr lang="en-US" dirty="0"/>
              <a:t>Trackers generate more electricity than their stationary counterparts due to increased direct exposure to solar rays. This increase can be as much as 10 to 25% depending on the geographic location of the tracking system. There are many different kinds of solar trackers, such as single-axis and dual-axis trackers, all of which can be the perfect fit for a unique jobsite. Installation size, local weather, degree of latitude and electrical requirements are all important considerations that can influence the type of solar tracker best suited for a specific solar installation. Solar trackers generate more electricity in roughly the same amount of space needed for fixed-tilt systems, making them ideal for optimizing land usage.</a:t>
            </a:r>
          </a:p>
        </p:txBody>
      </p:sp>
    </p:spTree>
    <p:extLst>
      <p:ext uri="{BB962C8B-B14F-4D97-AF65-F5344CB8AC3E}">
        <p14:creationId xmlns:p14="http://schemas.microsoft.com/office/powerpoint/2010/main" val="9377084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3856B-CB53-1F17-5EE7-02419DDAD377}"/>
              </a:ext>
            </a:extLst>
          </p:cNvPr>
          <p:cNvSpPr>
            <a:spLocks noGrp="1"/>
          </p:cNvSpPr>
          <p:nvPr>
            <p:ph type="title"/>
          </p:nvPr>
        </p:nvSpPr>
        <p:spPr>
          <a:xfrm>
            <a:off x="1524000" y="892826"/>
            <a:ext cx="9144000" cy="803815"/>
          </a:xfrm>
        </p:spPr>
        <p:txBody>
          <a:bodyPr/>
          <a:lstStyle/>
          <a:p>
            <a:r>
              <a:rPr lang="en-US" dirty="0"/>
              <a:t>Drawbacks Of Solar Tracker :-</a:t>
            </a:r>
          </a:p>
        </p:txBody>
      </p:sp>
      <p:sp>
        <p:nvSpPr>
          <p:cNvPr id="3" name="Content Placeholder 2">
            <a:extLst>
              <a:ext uri="{FF2B5EF4-FFF2-40B4-BE49-F238E27FC236}">
                <a16:creationId xmlns:a16="http://schemas.microsoft.com/office/drawing/2014/main" id="{7B9792A0-265E-604D-40BA-82C863D6807A}"/>
              </a:ext>
            </a:extLst>
          </p:cNvPr>
          <p:cNvSpPr>
            <a:spLocks noGrp="1"/>
          </p:cNvSpPr>
          <p:nvPr>
            <p:ph idx="1"/>
          </p:nvPr>
        </p:nvSpPr>
        <p:spPr>
          <a:xfrm>
            <a:off x="1524000" y="1964531"/>
            <a:ext cx="7834313" cy="4134517"/>
          </a:xfrm>
        </p:spPr>
        <p:txBody>
          <a:bodyPr>
            <a:normAutofit/>
          </a:bodyPr>
          <a:lstStyle/>
          <a:p>
            <a:pPr marL="0" indent="0" algn="just">
              <a:buNone/>
            </a:pPr>
            <a:r>
              <a:rPr lang="en-US" sz="2000" dirty="0"/>
              <a:t>Even with the advancements in reliability, there is generally more maintenance required than a traditional fixed rack, though the quality of the solar tracker can play a role in how much and how often this maintenance is needed.</a:t>
            </a:r>
          </a:p>
          <a:p>
            <a:pPr marL="0" indent="0" algn="just">
              <a:buNone/>
            </a:pPr>
            <a:r>
              <a:rPr lang="en-US" sz="2000" dirty="0"/>
              <a:t>Trackers are a more complex system than fixed racking. This means that typically more site preparation is needed, including additional trenching for wiring and some additional grading.</a:t>
            </a:r>
          </a:p>
          <a:p>
            <a:pPr marL="0" indent="0" algn="just">
              <a:buNone/>
            </a:pPr>
            <a:r>
              <a:rPr lang="en-US" sz="2000" dirty="0"/>
              <a:t>Solar trackers are slightly more expensive than their stationary counterparts, due to the more complex technology and moving parts necessary for their operation. This is usually depending on the size and location of the project.</a:t>
            </a:r>
          </a:p>
        </p:txBody>
      </p:sp>
    </p:spTree>
    <p:extLst>
      <p:ext uri="{BB962C8B-B14F-4D97-AF65-F5344CB8AC3E}">
        <p14:creationId xmlns:p14="http://schemas.microsoft.com/office/powerpoint/2010/main" val="35921875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D4C51-CFE2-C274-21EC-23458BD1E1A2}"/>
              </a:ext>
            </a:extLst>
          </p:cNvPr>
          <p:cNvSpPr>
            <a:spLocks noGrp="1"/>
          </p:cNvSpPr>
          <p:nvPr>
            <p:ph type="title"/>
          </p:nvPr>
        </p:nvSpPr>
        <p:spPr>
          <a:xfrm>
            <a:off x="1523999" y="1089422"/>
            <a:ext cx="8852297" cy="910686"/>
          </a:xfrm>
        </p:spPr>
        <p:txBody>
          <a:bodyPr/>
          <a:lstStyle/>
          <a:p>
            <a:r>
              <a:rPr lang="en-US" dirty="0"/>
              <a:t>Visual Representation:-</a:t>
            </a:r>
          </a:p>
        </p:txBody>
      </p:sp>
      <p:pic>
        <p:nvPicPr>
          <p:cNvPr id="3" name="Picture 3">
            <a:extLst>
              <a:ext uri="{FF2B5EF4-FFF2-40B4-BE49-F238E27FC236}">
                <a16:creationId xmlns:a16="http://schemas.microsoft.com/office/drawing/2014/main" id="{1779E722-EF32-FA6F-9F85-A9D7BE88F3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3999" y="2000108"/>
            <a:ext cx="4857750" cy="4317761"/>
          </a:xfrm>
          <a:prstGeom prst="rect">
            <a:avLst/>
          </a:prstGeom>
        </p:spPr>
      </p:pic>
      <p:pic>
        <p:nvPicPr>
          <p:cNvPr id="4" name="Picture 4">
            <a:extLst>
              <a:ext uri="{FF2B5EF4-FFF2-40B4-BE49-F238E27FC236}">
                <a16:creationId xmlns:a16="http://schemas.microsoft.com/office/drawing/2014/main" id="{B6A92797-47AA-C373-036C-822FD7F20D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6541" y="2000108"/>
            <a:ext cx="4170584" cy="4317761"/>
          </a:xfrm>
          <a:prstGeom prst="rect">
            <a:avLst/>
          </a:prstGeom>
        </p:spPr>
      </p:pic>
    </p:spTree>
    <p:extLst>
      <p:ext uri="{BB962C8B-B14F-4D97-AF65-F5344CB8AC3E}">
        <p14:creationId xmlns:p14="http://schemas.microsoft.com/office/powerpoint/2010/main" val="2987264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E7DF2-51A4-396D-FF3F-141E4206279C}"/>
              </a:ext>
            </a:extLst>
          </p:cNvPr>
          <p:cNvSpPr>
            <a:spLocks noGrp="1"/>
          </p:cNvSpPr>
          <p:nvPr>
            <p:ph type="title"/>
          </p:nvPr>
        </p:nvSpPr>
        <p:spPr>
          <a:xfrm>
            <a:off x="1035558" y="991124"/>
            <a:ext cx="9144000" cy="785812"/>
          </a:xfrm>
        </p:spPr>
        <p:txBody>
          <a:bodyPr/>
          <a:lstStyle/>
          <a:p>
            <a:r>
              <a:rPr lang="en-US" dirty="0"/>
              <a:t>References:-</a:t>
            </a:r>
          </a:p>
        </p:txBody>
      </p:sp>
      <p:sp>
        <p:nvSpPr>
          <p:cNvPr id="3" name="Content Placeholder 2">
            <a:extLst>
              <a:ext uri="{FF2B5EF4-FFF2-40B4-BE49-F238E27FC236}">
                <a16:creationId xmlns:a16="http://schemas.microsoft.com/office/drawing/2014/main" id="{545ED1B4-E40B-EDB8-2153-1B74B2C4D1B3}"/>
              </a:ext>
            </a:extLst>
          </p:cNvPr>
          <p:cNvSpPr>
            <a:spLocks noGrp="1"/>
          </p:cNvSpPr>
          <p:nvPr>
            <p:ph idx="1"/>
          </p:nvPr>
        </p:nvSpPr>
        <p:spPr>
          <a:xfrm>
            <a:off x="1035558" y="1955530"/>
            <a:ext cx="10055114" cy="4152376"/>
          </a:xfrm>
        </p:spPr>
        <p:txBody>
          <a:bodyPr>
            <a:normAutofit/>
          </a:bodyPr>
          <a:lstStyle/>
          <a:p>
            <a:pPr marL="0" indent="0">
              <a:buNone/>
            </a:pPr>
            <a:r>
              <a:rPr lang="en-US" sz="1800" dirty="0"/>
              <a:t>1. Tracking Systems Vital to Solar Success Accessed 4-3-2012</a:t>
            </a:r>
          </a:p>
          <a:p>
            <a:pPr marL="0" indent="0">
              <a:buNone/>
            </a:pPr>
            <a:r>
              <a:rPr lang="en-US" sz="1800" dirty="0"/>
              <a:t>2. Dam, J. Issue #17, June/July 1990. An active solar tracking system, Homebrew Magazine.</a:t>
            </a:r>
          </a:p>
          <a:p>
            <a:pPr marL="0" indent="0">
              <a:buNone/>
            </a:pPr>
            <a:r>
              <a:rPr lang="en-US" sz="1800" dirty="0"/>
              <a:t>3. http://www.suntrix.cn/home-en/newsevents/company-news/suntrix-greece-solartracker-completion.aspx</a:t>
            </a:r>
          </a:p>
          <a:p>
            <a:pPr marL="0" indent="0">
              <a:buNone/>
            </a:pPr>
            <a:r>
              <a:rPr lang="en-US" sz="1800" dirty="0"/>
              <a:t>4. Customers Recognize the Power of Solar Tracking Accessed 4-3-2012.</a:t>
            </a:r>
          </a:p>
          <a:p>
            <a:pPr marL="0" indent="0">
              <a:buNone/>
            </a:pPr>
            <a:r>
              <a:rPr lang="en-US" sz="1800" dirty="0"/>
              <a:t>5. Machine Design, R.S.Khurmi, J.K. Gupta,27th Edition Design of Machine Elements, V.B. Bhandari, 3rd Edition.</a:t>
            </a:r>
          </a:p>
        </p:txBody>
      </p:sp>
    </p:spTree>
    <p:extLst>
      <p:ext uri="{BB962C8B-B14F-4D97-AF65-F5344CB8AC3E}">
        <p14:creationId xmlns:p14="http://schemas.microsoft.com/office/powerpoint/2010/main" val="4843702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1515B-10E2-C21C-D1F8-0DCE68118B72}"/>
              </a:ext>
            </a:extLst>
          </p:cNvPr>
          <p:cNvSpPr>
            <a:spLocks noGrp="1"/>
          </p:cNvSpPr>
          <p:nvPr>
            <p:ph type="title"/>
          </p:nvPr>
        </p:nvSpPr>
        <p:spPr>
          <a:xfrm>
            <a:off x="4589860" y="2768203"/>
            <a:ext cx="3821906" cy="928688"/>
          </a:xfrm>
        </p:spPr>
        <p:txBody>
          <a:bodyPr/>
          <a:lstStyle/>
          <a:p>
            <a:r>
              <a:rPr lang="en-US" dirty="0"/>
              <a:t>Thank you !</a:t>
            </a:r>
          </a:p>
        </p:txBody>
      </p:sp>
    </p:spTree>
    <p:extLst>
      <p:ext uri="{BB962C8B-B14F-4D97-AF65-F5344CB8AC3E}">
        <p14:creationId xmlns:p14="http://schemas.microsoft.com/office/powerpoint/2010/main" val="27769370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theme/theme1.xml><?xml version="1.0" encoding="utf-8"?>
<a:theme xmlns:a="http://schemas.openxmlformats.org/drawingml/2006/main" name="PrismaticVTI">
  <a:themeElements>
    <a:clrScheme name="AnalogousFromLightSeedLeftStep">
      <a:dk1>
        <a:srgbClr val="000000"/>
      </a:dk1>
      <a:lt1>
        <a:srgbClr val="FFFFFF"/>
      </a:lt1>
      <a:dk2>
        <a:srgbClr val="402441"/>
      </a:dk2>
      <a:lt2>
        <a:srgbClr val="E2E7E8"/>
      </a:lt2>
      <a:accent1>
        <a:srgbClr val="C1988C"/>
      </a:accent1>
      <a:accent2>
        <a:srgbClr val="BA7F8A"/>
      </a:accent2>
      <a:accent3>
        <a:srgbClr val="C593B1"/>
      </a:accent3>
      <a:accent4>
        <a:srgbClr val="B87FBA"/>
      </a:accent4>
      <a:accent5>
        <a:srgbClr val="B196C6"/>
      </a:accent5>
      <a:accent6>
        <a:srgbClr val="877FBA"/>
      </a:accent6>
      <a:hlink>
        <a:srgbClr val="5C8A98"/>
      </a:hlink>
      <a:folHlink>
        <a:srgbClr val="7F7F7F"/>
      </a:folHlink>
    </a:clrScheme>
    <a:fontScheme name="Custom 166">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ismaticVTI" id="{DA44D624-A564-4DE8-8446-0CD5C485C979}" vid="{8B2B1550-B69C-4156-BAEC-B2E559F94BDB}"/>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PrismaticVTI</vt:lpstr>
      <vt:lpstr>  </vt:lpstr>
      <vt:lpstr>Contents :-</vt:lpstr>
      <vt:lpstr>INTRODUCTION :-</vt:lpstr>
      <vt:lpstr>Concept of solar tracker:-</vt:lpstr>
      <vt:lpstr>List Of components:-</vt:lpstr>
      <vt:lpstr>Circuit diagram :-</vt:lpstr>
      <vt:lpstr>Circuit Explanation:-</vt:lpstr>
      <vt:lpstr>Working of Dual Axis Solar Tracker </vt:lpstr>
      <vt:lpstr>Applications of Solar Tracker :-</vt:lpstr>
      <vt:lpstr>Future Scopes Of Solar Tracker :-</vt:lpstr>
      <vt:lpstr>Merits of solar tracker :-</vt:lpstr>
      <vt:lpstr>Drawbacks Of Solar Tracker :-</vt:lpstr>
      <vt:lpstr>Visual Representation:-</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Rounak Anand</dc:creator>
  <cp:lastModifiedBy>Rounak Anand</cp:lastModifiedBy>
  <cp:revision>17</cp:revision>
  <dcterms:created xsi:type="dcterms:W3CDTF">2023-12-02T05:50:36Z</dcterms:created>
  <dcterms:modified xsi:type="dcterms:W3CDTF">2023-12-04T08:51:02Z</dcterms:modified>
</cp:coreProperties>
</file>